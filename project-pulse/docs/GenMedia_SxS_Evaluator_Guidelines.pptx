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4285F4"/>
                </a:solidFill>
                <a:latin typeface="Google Sans"/>
              </a:defRPr>
            </a:pPr>
            <a:r>
              <a:t>GenMedia SxS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02124"/>
                </a:solidFill>
                <a:latin typeface="Google Sans"/>
              </a:defRPr>
            </a:pPr>
            <a:r>
              <a:t>Evaluator 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F6368"/>
                </a:solidFill>
                <a:latin typeface="Google Sans"/>
              </a:defRPr>
            </a:pPr>
            <a:r>
              <a:t>Side-by-side blind evaluation of generative media models</a:t>
            </a:r>
          </a:p>
        </p:txBody>
      </p:sp>
      <p:sp>
        <p:nvSpPr>
          <p:cNvPr id="6" name="Oval 5"/>
          <p:cNvSpPr/>
          <p:nvPr/>
        </p:nvSpPr>
        <p:spPr>
          <a:xfrm>
            <a:off x="5486400" y="5029200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06440" y="5029200"/>
            <a:ext cx="164592" cy="164592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0" y="502920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46519" y="5029200"/>
            <a:ext cx="164592" cy="164592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Google Sans"/>
              </a:defRPr>
            </a:pPr>
            <a:r>
              <a:t>Google  |  Internal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1. Access the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Getting started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Navigate to the platform URL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Enter your LDAP handle in the login field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Press 'Enter Evaluation' to begin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The leaderboard shows top evaluators in real-time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Your vote count is tracked across sessions</a:t>
            </a:r>
          </a:p>
        </p:txBody>
      </p:sp>
      <p:pic>
        <p:nvPicPr>
          <p:cNvPr id="5" name="Picture 4" descr="01_login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2. Side-by-Side Evaluation</a:t>
            </a:r>
          </a:p>
        </p:txBody>
      </p:sp>
      <p:pic>
        <p:nvPicPr>
          <p:cNvPr id="4" name="Picture 3" descr="02_evaluation_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6686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Two anonymized video variants from the same prompt. Model identities are hidden until after you vote.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3. Voting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How to vote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Watch both variants at least twice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Use 'Play Both' for synchronized playback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Click 'Select Variant A' or 'Select Variant B'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Complete the detailed scoring rubric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Use 'Skip' if neither variant is evaluable</a:t>
            </a:r>
          </a:p>
        </p:txBody>
      </p:sp>
      <p:pic>
        <p:nvPicPr>
          <p:cNvPr id="5" name="Picture 4" descr="03_evaluation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822960"/>
            <a:ext cx="6400800" cy="5680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4. Evaluation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73152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Prompt Adherence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Does the video faithfully execute all stated elements, timings, and visual requests?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73152" cy="10972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Motion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Is the movement natural and fluid? Any temporal morphing or flickering artifacts?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73152" cy="109728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Aesthetic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Assess lighting, resolution, color grading, and cinematic quality.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34640"/>
            <a:ext cx="73152" cy="10972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Physics &amp; Cohesion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Do objects interact realistically? Gravity, collisions, spatial consistency?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80560"/>
            <a:ext cx="73152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Audio Expressiveness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If audio is present, does it match the scene's mood and energy?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73152" cy="10972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Audio-Visual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937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Google Sans"/>
              </a:defRPr>
            </a:pPr>
            <a:r>
              <a:t>Are sounds timed correctly with on-screen actions?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5. The 10-Vote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Unlock analytics by evaluating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A progress bar in the top-right tracks your votes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Complete 10 evaluations to unlock the Analytics button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Once unlocked, access the full Benchmark Results dashboard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You can also submit custom benchmarking prompts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The leaderboard ranks all evaluators by vote count</a:t>
            </a:r>
          </a:p>
        </p:txBody>
      </p:sp>
      <p:pic>
        <p:nvPicPr>
          <p:cNvPr id="5" name="Picture 4" descr="08_analytics_un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91440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6.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Aggregated win rates, mode breakup, per-SKU performance with latency, and radar charts across evaluation dimensions.</a:t>
            </a:r>
          </a:p>
        </p:txBody>
      </p:sp>
      <p:pic>
        <p:nvPicPr>
          <p:cNvPr id="5" name="Picture 4" descr="09_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7.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Google Sans"/>
              </a:defRPr>
            </a:pPr>
            <a:r>
              <a:t>Gamified participation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Top Evaluators ranked by total vote count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Visible on login screen and analytics dashboard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Dimension Analytics with radar charts for T2V and I2V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Toggle between Global and Personal results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Filter by prompt category tags</a:t>
            </a:r>
          </a:p>
          <a:p>
            <a:pPr>
              <a:spcBef>
                <a:spcPts val="600"/>
              </a:spcBef>
              <a:defRPr sz="1600">
                <a:solidFill>
                  <a:srgbClr val="5F6368"/>
                </a:solidFill>
                <a:latin typeface="Google Sans"/>
              </a:defRPr>
            </a:pPr>
            <a:r>
              <a:t>'Evaluation Tier Unlocked' badge at 10 votes</a:t>
            </a:r>
          </a:p>
        </p:txBody>
      </p:sp>
      <p:pic>
        <p:nvPicPr>
          <p:cNvPr id="5" name="Picture 4" descr="10_analytic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31520"/>
            <a:ext cx="339026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8. Tips for Great Evaluations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73152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Google Sans"/>
              </a:defRPr>
            </a:pPr>
            <a:r>
              <a:t>Watch each video at least twice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First pass for overall impression, second for details and artifacts.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14600"/>
            <a:ext cx="73152" cy="82296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Google Sans"/>
              </a:defRPr>
            </a:pPr>
            <a:r>
              <a:t>Use audio when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Audio expressiveness and sync are scoring dimensions.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749039"/>
            <a:ext cx="73152" cy="82296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Google Sans"/>
              </a:defRPr>
            </a:pPr>
            <a:r>
              <a:t>Don't rush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160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Quality evaluations are more valuable than quantity.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983480"/>
            <a:ext cx="73152" cy="8229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983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Google Sans"/>
              </a:defRPr>
            </a:pPr>
            <a:r>
              <a:t>Skip freely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If a pair is ambiguous or both outputs are equally bad/good, skip it.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0" y="6217920"/>
            <a:ext cx="164592" cy="16459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6440" y="6217920"/>
            <a:ext cx="164592" cy="164592"/>
          </a:xfrm>
          <a:prstGeom prst="ellipse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80" y="6217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19" y="6217920"/>
            <a:ext cx="164592" cy="164592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9. Admin — Prompt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Create Hard Prompts with T2V, I2V, and R2V modes. Upload start/end frames, assign category tags, and trigger generation across all active models.</a:t>
            </a:r>
          </a:p>
        </p:txBody>
      </p:sp>
      <p:pic>
        <p:nvPicPr>
          <p:cNvPr id="5" name="Picture 4" descr="05_admin_pro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10. Admin — Generations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Track all generation jobs with status indicators, category tags, and success/failure counts. Filter by status, tags, or search by prompt text.</a:t>
            </a:r>
          </a:p>
        </p:txBody>
      </p:sp>
      <p:pic>
        <p:nvPicPr>
          <p:cNvPr id="5" name="Picture 4" descr="06_admin_gen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Google Sans"/>
              </a:defRPr>
            </a:pPr>
            <a:r>
              <a:t>11. Admin — Model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Google Sans"/>
              </a:defRPr>
            </a:pPr>
            <a:r>
              <a:t>View and toggle all registered models. Supports Veo (Vertex AI), Kling, Seedance, and other providers.</a:t>
            </a:r>
          </a:p>
        </p:txBody>
      </p:sp>
      <p:pic>
        <p:nvPicPr>
          <p:cNvPr id="5" name="Picture 4" descr="07_admin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360"/>
            <a:ext cx="9418320" cy="5886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Google Sans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Google Sans"/>
              </a:defRPr>
            </a:pPr>
            <a:r>
              <a:t>Your evaluations directly shape the quality of our generative media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C4F8"/>
                </a:solidFill>
                <a:latin typeface="Google Sans"/>
              </a:defRPr>
            </a:pPr>
            <a:r>
              <a:t>Complete 10 evaluations to unlock prompt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